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60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開場：說說學伴是一個無螢幕、可離線、零操作門檻的實體 AI 英語伴讀夥伴，目標是以人本思維重構偏鄉教育落差。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現況與願景：偏鄉教育正陷入惡性循環——孩童缺資源、教師受挫轉調、孩子更退縮；導入 AI 設備後可減輕教師負擔、強化師生情感聯繫並提升兒童學習意願，從冰冷的螢幕測驗，翻轉為有溫度的陪伴與正向循環。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第一重痛點：城鄉資源落差造成英語學力的雙峰現象。偏遠地區國中會考英語待加強比例高達 47% 以上，是都會區的 1.78–1.90 倍；花蓮更達 74.15%。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為什麼硬體齊備卻無法解決問題？傳統 App／網頁平台仰賴螢幕與網路、門檻高且冰冷；說說學伴改以無螢幕實體、邊緣 AI、零門檻與可擁抱的陪伴，從視覺主導的螢幕測驗，轉向聽覺主導的溫暖陪伴。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說說學伴不是 App、不是網頁，而是一個有溫度的物理終端——學童可以抱在懷中、用說話就能互動。三個『不』：不需要螢幕、不需要網路也能用、不需要會操作。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雙網混成推論：本地邊緣端（聯發科 Genio 520）負責隱私、斷網可用、即時喚醒與發音評測；偵測到 Wi-Fi 時自動切換到雲端生成層（AWS Bedrock），提供進階對話、RAG 內容與教師報表。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為什麼必須是國產晶片：聯發科 Genio 520 內建 10 TOPS NPU，可同時離線運行 ASR、LLM、TTS 三大模型，實現完整離線對話。兩大價值：隱私保護（未成年語音不上雲）與擺脫網路限制（弭平城鄉落差）。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鷹架式語伴教學法：允許中英混合輸入、不糾錯，以正面語氣示範正確用法並給予即時鼓勵，逐步引導學童從母語過渡到英語，重建學習自信心。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落地情境一：偏鄉學習扶助課堂。學童從害怕考試到主動開口對話；教師免除手動派課與數據分析，AI 助教自動生成差異化教學報表，精準指出如『母音發音需加強』，讓老師專注於教學本身。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未來擴展藍圖：以說說學伴的邊緣-雲端混成架構為 Core Engine，從 Phase 1 基礎教育出發，延伸至高齡認知訓練、技職人才發展與環境社會韌性，成為平台化的普惠科技基礎建設。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感謝聆聽：說說學伴期盼以國產邊緣 AI 與生成式 AI 的軟硬整合，讓科技回歸人本，陪伴偏鄉孩子勇敢說出第一句英語，誠摯歡迎指教與合作。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5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7F0E0">
                  <a:alpha val="100000"/>
                </a:srgbClr>
              </a:gs>
              <a:gs pos="55000">
                <a:srgbClr val="EFE6D2">
                  <a:alpha val="100000"/>
                </a:srgbClr>
              </a:gs>
              <a:gs pos="100000">
                <a:srgbClr val="E8DCC3">
                  <a:alpha val="100000"/>
                </a:srgbClr>
              </a:gs>
            </a:gsLst>
            <a:path path="circle">
              <a:fillToRect l="78000" t="30000" r="22000" b="7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47750" y="2980134"/>
            <a:ext cx="400050" cy="19050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4" name="Text 2"/>
          <p:cNvSpPr/>
          <p:nvPr/>
        </p:nvSpPr>
        <p:spPr>
          <a:xfrm>
            <a:off x="1581149" y="2819409"/>
            <a:ext cx="8554523" cy="531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225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雲湧智生 ｜ 創意交流組 · 晶創未來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471746"/>
            <a:ext cx="11734800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600" b="1" kern="0" spc="150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說說學伴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47750" y="4722614"/>
            <a:ext cx="1173480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450" b="1" dirty="0">
                <a:solidFill>
                  <a:srgbClr val="2B252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以人本思維重構偏鄉教育落差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047749" y="5577929"/>
            <a:ext cx="108002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7A6F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實體智能 · 無螢幕伴讀系統方案 — 讓每個孩子都有人陪他開口。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47750" y="6835229"/>
            <a:ext cx="5334000" cy="9525"/>
          </a:xfrm>
          <a:prstGeom prst="rect">
            <a:avLst/>
          </a:prstGeom>
          <a:solidFill>
            <a:srgbClr val="D8CBB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7130504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師大酷英團隊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933700" y="7073494"/>
            <a:ext cx="4400550" cy="454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75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郭泰源 王智城 李宗哲 范鈞淯</a:t>
            </a:r>
            <a:endParaRPr lang="en-US" sz="2250" b="1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1AF5D35-69BA-4A69-5F6E-766610A4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262" y="1990572"/>
            <a:ext cx="7878048" cy="6305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31993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C074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OVERVIEW ｜ 現況與願景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現況與願景：偏鄉教育的轉變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028379"/>
            <a:ext cx="7639050" cy="7572821"/>
          </a:xfrm>
          <a:prstGeom prst="roundRect">
            <a:avLst>
              <a:gd name="adj" fmla="val 3019"/>
            </a:avLst>
          </a:prstGeom>
          <a:gradFill rotWithShape="1">
            <a:gsLst>
              <a:gs pos="0">
                <a:srgbClr val="EAEAE5">
                  <a:alpha val="100000"/>
                </a:srgbClr>
              </a:gs>
              <a:gs pos="100000">
                <a:srgbClr val="DBDCD6">
                  <a:alpha val="100000"/>
                </a:srgbClr>
              </a:gs>
            </a:gsLst>
            <a:lin ang="4200000" scaled="0"/>
          </a:gradFill>
          <a:ln w="9525">
            <a:solidFill>
              <a:srgbClr val="CCCD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2361754"/>
            <a:ext cx="838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5E6058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現況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76475" y="2514154"/>
            <a:ext cx="1101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9A9C9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1125" y="2818954"/>
            <a:ext cx="745998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7A7C7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冰冷螢幕下的惡性循環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81125" y="3324671"/>
            <a:ext cx="6781800" cy="2076450"/>
          </a:xfrm>
          <a:prstGeom prst="roundRect">
            <a:avLst>
              <a:gd name="adj" fmla="val 7339"/>
            </a:avLst>
          </a:prstGeom>
          <a:gradFill rotWithShape="1">
            <a:gsLst>
              <a:gs pos="0">
                <a:srgbClr val="E1E2DD">
                  <a:alpha val="100000"/>
                </a:srgbClr>
              </a:gs>
              <a:gs pos="82000">
                <a:srgbClr val="CDCEC8">
                  <a:alpha val="100000"/>
                </a:srgbClr>
              </a:gs>
            </a:gsLst>
            <a:path path="circle">
              <a:fillToRect l="50000" t="28000" r="50000" b="72000"/>
            </a:path>
          </a:gra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6650" y="3924746"/>
            <a:ext cx="552450" cy="876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57700" y="3458021"/>
            <a:ext cx="1409700" cy="1809750"/>
          </a:xfrm>
          <a:prstGeom prst="roundRect">
            <a:avLst>
              <a:gd name="adj" fmla="val 12162"/>
            </a:avLst>
          </a:prstGeom>
          <a:gradFill rotWithShape="1">
            <a:gsLst>
              <a:gs pos="0">
                <a:srgbClr val="CFD0CA">
                  <a:alpha val="100000"/>
                </a:srgbClr>
              </a:gs>
              <a:gs pos="100000">
                <a:srgbClr val="B2B3AC">
                  <a:alpha val="100000"/>
                </a:srgbClr>
              </a:gs>
            </a:gsLst>
            <a:lin ang="3900000" scaled="0"/>
          </a:gradFill>
          <a:ln/>
          <a:effectLst>
            <a:outerShdw blurRad="247650" dist="152400" dir="5400000" algn="bl" rotWithShape="0">
              <a:srgbClr val="50504A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9625" y="3648521"/>
            <a:ext cx="1085850" cy="1428750"/>
          </a:xfrm>
          <a:prstGeom prst="roundRect">
            <a:avLst>
              <a:gd name="adj" fmla="val 6140"/>
            </a:avLst>
          </a:prstGeom>
          <a:solidFill>
            <a:srgbClr val="ECECE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9625" y="3648521"/>
            <a:ext cx="1085850" cy="1428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14975" y="4896296"/>
            <a:ext cx="476250" cy="476250"/>
          </a:xfrm>
          <a:prstGeom prst="ellipse">
            <a:avLst/>
          </a:prstGeom>
          <a:solidFill>
            <a:srgbClr val="B6736A"/>
          </a:solidFill>
          <a:ln/>
          <a:effectLst>
            <a:outerShdw blurRad="152400" dist="76200" dir="5400000" algn="bl" rotWithShape="0">
              <a:srgbClr val="965A5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9750" y="5001071"/>
            <a:ext cx="266700" cy="2667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381125" y="5572571"/>
            <a:ext cx="6781800" cy="9525"/>
          </a:xfrm>
          <a:prstGeom prst="rect">
            <a:avLst/>
          </a:prstGeom>
          <a:solidFill>
            <a:srgbClr val="CACBC4"/>
          </a:solidFill>
          <a:ln/>
        </p:spPr>
      </p:sp>
      <p:sp>
        <p:nvSpPr>
          <p:cNvPr id="17" name="Shape 12"/>
          <p:cNvSpPr/>
          <p:nvPr/>
        </p:nvSpPr>
        <p:spPr>
          <a:xfrm>
            <a:off x="1381125" y="5877371"/>
            <a:ext cx="85725" cy="85725"/>
          </a:xfrm>
          <a:prstGeom prst="ellipse">
            <a:avLst/>
          </a:prstGeom>
          <a:solidFill>
            <a:srgbClr val="A9AB9F"/>
          </a:solidFill>
          <a:ln/>
        </p:spPr>
      </p:sp>
      <p:sp>
        <p:nvSpPr>
          <p:cNvPr id="18" name="Text 13"/>
          <p:cNvSpPr/>
          <p:nvPr/>
        </p:nvSpPr>
        <p:spPr>
          <a:xfrm>
            <a:off x="1590675" y="5753546"/>
            <a:ext cx="469392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85A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孩童缺乏學習資源，城鄉程度落差大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1381125" y="6403032"/>
            <a:ext cx="85725" cy="85725"/>
          </a:xfrm>
          <a:prstGeom prst="ellipse">
            <a:avLst/>
          </a:prstGeom>
          <a:solidFill>
            <a:srgbClr val="A9AB9F"/>
          </a:solidFill>
          <a:ln/>
        </p:spPr>
      </p:sp>
      <p:sp>
        <p:nvSpPr>
          <p:cNvPr id="20" name="Text 15"/>
          <p:cNvSpPr/>
          <p:nvPr/>
        </p:nvSpPr>
        <p:spPr>
          <a:xfrm>
            <a:off x="1590675" y="6279207"/>
            <a:ext cx="469392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85A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教師負擔沉重、屢屢受挫，逐漸無力</a:t>
            </a: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1381125" y="6928693"/>
            <a:ext cx="85725" cy="85725"/>
          </a:xfrm>
          <a:prstGeom prst="ellipse">
            <a:avLst/>
          </a:prstGeom>
          <a:solidFill>
            <a:srgbClr val="A9AB9F"/>
          </a:solidFill>
          <a:ln/>
        </p:spPr>
      </p:sp>
      <p:sp>
        <p:nvSpPr>
          <p:cNvPr id="22" name="Text 17"/>
          <p:cNvSpPr/>
          <p:nvPr/>
        </p:nvSpPr>
        <p:spPr>
          <a:xfrm>
            <a:off x="1590675" y="6804868"/>
            <a:ext cx="410718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85A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老師失去信心與意願，選擇轉調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1381125" y="7454354"/>
            <a:ext cx="85725" cy="85725"/>
          </a:xfrm>
          <a:prstGeom prst="ellipse">
            <a:avLst/>
          </a:prstGeom>
          <a:solidFill>
            <a:srgbClr val="A9AB9F"/>
          </a:solidFill>
          <a:ln/>
        </p:spPr>
      </p:sp>
      <p:sp>
        <p:nvSpPr>
          <p:cNvPr id="24" name="Text 19"/>
          <p:cNvSpPr/>
          <p:nvPr/>
        </p:nvSpPr>
        <p:spPr>
          <a:xfrm>
            <a:off x="1590675" y="7330529"/>
            <a:ext cx="38138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85A5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孩童更加退縮，陷入惡性循環</a:t>
            </a:r>
            <a:endParaRPr lang="en-US" sz="2100" dirty="0"/>
          </a:p>
        </p:txBody>
      </p:sp>
      <p:sp>
        <p:nvSpPr>
          <p:cNvPr id="25" name="Shape 20"/>
          <p:cNvSpPr/>
          <p:nvPr/>
        </p:nvSpPr>
        <p:spPr>
          <a:xfrm>
            <a:off x="8724900" y="5033665"/>
            <a:ext cx="838200" cy="838200"/>
          </a:xfrm>
          <a:prstGeom prst="ellipse">
            <a:avLst/>
          </a:prstGeom>
          <a:solidFill>
            <a:srgbClr val="27374D"/>
          </a:solidFill>
          <a:ln/>
          <a:effectLst>
            <a:outerShdw blurRad="285750" dist="133350" dir="5400000" algn="bl" rotWithShape="0">
              <a:srgbClr val="27374D">
                <a:alpha val="3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500" y="5262265"/>
            <a:ext cx="381000" cy="3810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67775" y="6024265"/>
            <a:ext cx="552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賦能</a:t>
            </a:r>
            <a:endParaRPr lang="en-US" sz="1875" dirty="0"/>
          </a:p>
        </p:txBody>
      </p:sp>
      <p:sp>
        <p:nvSpPr>
          <p:cNvPr id="28" name="Shape 22"/>
          <p:cNvSpPr/>
          <p:nvPr/>
        </p:nvSpPr>
        <p:spPr>
          <a:xfrm>
            <a:off x="9696450" y="2028379"/>
            <a:ext cx="7639050" cy="7572821"/>
          </a:xfrm>
          <a:prstGeom prst="rect">
            <a:avLst/>
          </a:prstGeom>
          <a:gradFill rotWithShape="1">
            <a:gsLst>
              <a:gs pos="0">
                <a:srgbClr val="FBEFD9">
                  <a:alpha val="100000"/>
                </a:srgbClr>
              </a:gs>
              <a:gs pos="100000">
                <a:srgbClr val="F4DEB6">
                  <a:alpha val="100000"/>
                </a:srgbClr>
              </a:gs>
            </a:gsLst>
            <a:lin ang="4200000" scaled="0"/>
          </a:gradFill>
          <a:ln w="9525">
            <a:solidFill>
              <a:srgbClr val="E2BD8C"/>
            </a:solidFill>
            <a:prstDash val="solid"/>
          </a:ln>
          <a:effectLst>
            <a:outerShdw blurRad="323850" dist="152400" dir="5400000" algn="bl" rotWithShape="0">
              <a:srgbClr val="C0743A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0125075" y="2361754"/>
            <a:ext cx="838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願景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11020425" y="2514154"/>
            <a:ext cx="9152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C49A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0125075" y="2818954"/>
            <a:ext cx="745998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有溫度的 AI 陪伴教室</a:t>
            </a:r>
            <a:endParaRPr lang="en-US" sz="2025" dirty="0"/>
          </a:p>
        </p:txBody>
      </p:sp>
      <p:sp>
        <p:nvSpPr>
          <p:cNvPr id="32" name="Shape 26"/>
          <p:cNvSpPr/>
          <p:nvPr/>
        </p:nvSpPr>
        <p:spPr>
          <a:xfrm>
            <a:off x="10125075" y="3324671"/>
            <a:ext cx="6781800" cy="2076450"/>
          </a:xfrm>
          <a:prstGeom prst="roundRect">
            <a:avLst>
              <a:gd name="adj" fmla="val 7339"/>
            </a:avLst>
          </a:prstGeom>
          <a:solidFill>
            <a:srgbClr val="EFE7D7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25075" y="5572571"/>
            <a:ext cx="6781800" cy="9525"/>
          </a:xfrm>
          <a:prstGeom prst="rect">
            <a:avLst/>
          </a:prstGeom>
          <a:solidFill>
            <a:srgbClr val="E2C99E"/>
          </a:solidFill>
          <a:ln/>
        </p:spPr>
      </p:sp>
      <p:sp>
        <p:nvSpPr>
          <p:cNvPr id="35" name="Shape 28"/>
          <p:cNvSpPr/>
          <p:nvPr/>
        </p:nvSpPr>
        <p:spPr>
          <a:xfrm>
            <a:off x="10125075" y="5877371"/>
            <a:ext cx="85725" cy="85725"/>
          </a:xfrm>
          <a:prstGeom prst="ellipse">
            <a:avLst/>
          </a:prstGeom>
          <a:solidFill>
            <a:srgbClr val="C0743A"/>
          </a:solidFill>
          <a:ln/>
        </p:spPr>
      </p:sp>
      <p:sp>
        <p:nvSpPr>
          <p:cNvPr id="36" name="Text 29"/>
          <p:cNvSpPr/>
          <p:nvPr/>
        </p:nvSpPr>
        <p:spPr>
          <a:xfrm>
            <a:off x="10334625" y="5753546"/>
            <a:ext cx="480573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A4B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導入 AI 設備，學習與即時回饋更便利</a:t>
            </a:r>
            <a:endParaRPr lang="en-US" sz="2100" dirty="0"/>
          </a:p>
        </p:txBody>
      </p:sp>
      <p:sp>
        <p:nvSpPr>
          <p:cNvPr id="37" name="Shape 30"/>
          <p:cNvSpPr/>
          <p:nvPr/>
        </p:nvSpPr>
        <p:spPr>
          <a:xfrm>
            <a:off x="10125075" y="6403032"/>
            <a:ext cx="85725" cy="85725"/>
          </a:xfrm>
          <a:prstGeom prst="ellipse">
            <a:avLst/>
          </a:prstGeom>
          <a:solidFill>
            <a:srgbClr val="C0743A"/>
          </a:solidFill>
          <a:ln/>
        </p:spPr>
      </p:sp>
      <p:sp>
        <p:nvSpPr>
          <p:cNvPr id="38" name="Text 31"/>
          <p:cNvSpPr/>
          <p:nvPr/>
        </p:nvSpPr>
        <p:spPr>
          <a:xfrm>
            <a:off x="10334625" y="6279207"/>
            <a:ext cx="44005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A4B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減輕教師負擔，聚焦核心教學量能</a:t>
            </a:r>
            <a:endParaRPr lang="en-US" sz="2100" dirty="0"/>
          </a:p>
        </p:txBody>
      </p:sp>
      <p:sp>
        <p:nvSpPr>
          <p:cNvPr id="39" name="Shape 32"/>
          <p:cNvSpPr/>
          <p:nvPr/>
        </p:nvSpPr>
        <p:spPr>
          <a:xfrm>
            <a:off x="10125075" y="6928693"/>
            <a:ext cx="85725" cy="85725"/>
          </a:xfrm>
          <a:prstGeom prst="ellipse">
            <a:avLst/>
          </a:prstGeom>
          <a:solidFill>
            <a:srgbClr val="C0743A"/>
          </a:solidFill>
          <a:ln/>
        </p:spPr>
      </p:sp>
      <p:sp>
        <p:nvSpPr>
          <p:cNvPr id="40" name="Text 33"/>
          <p:cNvSpPr/>
          <p:nvPr/>
        </p:nvSpPr>
        <p:spPr>
          <a:xfrm>
            <a:off x="10334625" y="6804868"/>
            <a:ext cx="44005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A4B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降低離職率，師生情感聯繫更緊密</a:t>
            </a:r>
            <a:endParaRPr lang="en-US" sz="2100" dirty="0"/>
          </a:p>
        </p:txBody>
      </p:sp>
      <p:sp>
        <p:nvSpPr>
          <p:cNvPr id="41" name="Shape 34"/>
          <p:cNvSpPr/>
          <p:nvPr/>
        </p:nvSpPr>
        <p:spPr>
          <a:xfrm>
            <a:off x="10125075" y="7454354"/>
            <a:ext cx="85725" cy="85725"/>
          </a:xfrm>
          <a:prstGeom prst="ellipse">
            <a:avLst/>
          </a:prstGeom>
          <a:solidFill>
            <a:srgbClr val="C0743A"/>
          </a:solidFill>
          <a:ln/>
        </p:spPr>
      </p:sp>
      <p:sp>
        <p:nvSpPr>
          <p:cNvPr id="42" name="Text 35"/>
          <p:cNvSpPr/>
          <p:nvPr/>
        </p:nvSpPr>
        <p:spPr>
          <a:xfrm>
            <a:off x="10334625" y="7330529"/>
            <a:ext cx="352044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A4B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提升兒童的學習動機與意願</a:t>
            </a:r>
            <a:endParaRPr lang="en-US" sz="2100" dirty="0"/>
          </a:p>
        </p:txBody>
      </p:sp>
      <p:sp>
        <p:nvSpPr>
          <p:cNvPr id="43" name="Text 36"/>
          <p:cNvSpPr/>
          <p:nvPr/>
        </p:nvSpPr>
        <p:spPr>
          <a:xfrm>
            <a:off x="16873984" y="9725025"/>
            <a:ext cx="9187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73D7D8F3-3C07-E328-6EB7-BB25DDB9CB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32243" y="3324671"/>
            <a:ext cx="2805564" cy="22456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325686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C074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PROBLEM ｜ 痛點剖析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雙語政策下的結構性斷層：資源落差帶來的「雙峰現象」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104579"/>
            <a:ext cx="9239250" cy="7515671"/>
          </a:xfrm>
          <a:prstGeom prst="roundRect">
            <a:avLst>
              <a:gd name="adj" fmla="val 2788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2457004"/>
            <a:ext cx="9220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國中會考英語「待加強 (C)」比例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81125" y="2848421"/>
            <a:ext cx="922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9A8F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數值越高代表英語基礎越弱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712666" y="5362575"/>
            <a:ext cx="9879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6E7F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</a:t>
            </a:r>
            <a:r>
              <a:rPr lang="en-US" sz="2250" b="1" dirty="0">
                <a:solidFill>
                  <a:srgbClr val="6E7F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%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549402" y="6048375"/>
            <a:ext cx="1238250" cy="1790700"/>
          </a:xfrm>
          <a:prstGeom prst="roundRect">
            <a:avLst>
              <a:gd name="adj" fmla="val 10769"/>
            </a:avLst>
          </a:prstGeom>
          <a:gradFill rotWithShape="1">
            <a:gsLst>
              <a:gs pos="0">
                <a:srgbClr val="8FA07C">
                  <a:alpha val="100000"/>
                </a:srgbClr>
              </a:gs>
              <a:gs pos="100000">
                <a:srgbClr val="6E7F5E">
                  <a:alpha val="100000"/>
                </a:srgbClr>
              </a:gs>
            </a:gsLst>
            <a:lin ang="5400000" scaled="0"/>
          </a:gradFill>
          <a:ln/>
          <a:effectLst>
            <a:outerShdw blurRad="190500" dist="95250" dir="5400000" algn="bl" rotWithShape="0">
              <a:srgbClr val="6E7F5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68477" y="7991475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都會區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02794" y="8410575"/>
            <a:ext cx="190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A8F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23.66%–32.25%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47222" y="4143375"/>
            <a:ext cx="111457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074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47</a:t>
            </a:r>
            <a:r>
              <a:rPr lang="en-US" sz="2250" b="1" dirty="0">
                <a:solidFill>
                  <a:srgbClr val="C074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%+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6247209" y="4829175"/>
            <a:ext cx="1238250" cy="3009900"/>
          </a:xfrm>
          <a:prstGeom prst="roundRect">
            <a:avLst>
              <a:gd name="adj" fmla="val 10769"/>
            </a:avLst>
          </a:prstGeom>
          <a:gradFill rotWithShape="1">
            <a:gsLst>
              <a:gs pos="0">
                <a:srgbClr val="E2A35A">
                  <a:alpha val="100000"/>
                </a:srgbClr>
              </a:gs>
              <a:gs pos="100000">
                <a:srgbClr val="C0743A">
                  <a:alpha val="100000"/>
                </a:srgbClr>
              </a:gs>
            </a:gsLst>
            <a:lin ang="5400000" scaled="0"/>
          </a:gradFill>
          <a:ln/>
          <a:effectLst>
            <a:outerShdw blurRad="228600" dist="114300" dir="5400000" algn="bl" rotWithShape="0">
              <a:srgbClr val="C0743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2934" y="7991475"/>
            <a:ext cx="1143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偏遠地區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891510" y="8410575"/>
            <a:ext cx="21447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A8F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長期高達 47% 以上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54189" y="8810625"/>
            <a:ext cx="3635722" cy="514350"/>
          </a:xfrm>
          <a:prstGeom prst="roundRect">
            <a:avLst>
              <a:gd name="adj" fmla="val 50000"/>
            </a:avLst>
          </a:prstGeom>
          <a:solidFill>
            <a:srgbClr val="27374D"/>
          </a:solidFill>
          <a:ln/>
        </p:spPr>
      </p:sp>
      <p:sp>
        <p:nvSpPr>
          <p:cNvPr id="17" name="Text 15"/>
          <p:cNvSpPr/>
          <p:nvPr/>
        </p:nvSpPr>
        <p:spPr>
          <a:xfrm>
            <a:off x="4039939" y="8943975"/>
            <a:ext cx="31732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75" dirty="0">
                <a:solidFill>
                  <a:srgbClr val="F4EC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城鄉差距達 1.78 – 1.90 倍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629900" y="2104579"/>
            <a:ext cx="6705600" cy="3624411"/>
          </a:xfrm>
          <a:prstGeom prst="roundRect">
            <a:avLst>
              <a:gd name="adj" fmla="val 5782"/>
            </a:avLst>
          </a:prstGeom>
          <a:gradFill rotWithShape="1">
            <a:gsLst>
              <a:gs pos="0">
                <a:srgbClr val="F6E2C8">
                  <a:alpha val="100000"/>
                </a:srgbClr>
              </a:gs>
              <a:gs pos="100000">
                <a:srgbClr val="EFD3AE">
                  <a:alpha val="100000"/>
                </a:srgbClr>
              </a:gs>
            </a:gsLst>
            <a:lin ang="3600000" scaled="0"/>
          </a:gradFill>
          <a:ln w="9525">
            <a:solidFill>
              <a:srgbClr val="E2B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1375" y="2916585"/>
            <a:ext cx="65589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75" dirty="0">
                <a:solidFill>
                  <a:srgbClr val="A65A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極端案例 ｜ 花蓮縣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001375" y="3240435"/>
            <a:ext cx="65589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2737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74.15</a:t>
            </a:r>
            <a:r>
              <a:rPr lang="en-US" sz="3000" b="1" dirty="0">
                <a:solidFill>
                  <a:srgbClr val="2737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%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11001375" y="4116735"/>
            <a:ext cx="614152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5C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偏鄉英語待加強比例，是同縣非偏鄉的 1.75 倍。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629900" y="5995690"/>
            <a:ext cx="6705600" cy="3624560"/>
          </a:xfrm>
          <a:prstGeom prst="roundRect">
            <a:avLst>
              <a:gd name="adj" fmla="val 5781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01375" y="6962626"/>
            <a:ext cx="65589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75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結構性困境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001375" y="7324576"/>
            <a:ext cx="6141529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偏鄉學校常年面臨 </a:t>
            </a:r>
            <a:r>
              <a:rPr lang="en-US" sz="2325" b="1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20% 代理教師流動率 </a:t>
            </a:r>
            <a:r>
              <a:rPr lang="en-US" sz="2325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，學童「每學期都在換英語老師」，缺乏穩定的語言陪伴。</a:t>
            </a:r>
            <a:endParaRPr lang="en-US" sz="2325" dirty="0"/>
          </a:p>
        </p:txBody>
      </p:sp>
      <p:sp>
        <p:nvSpPr>
          <p:cNvPr id="25" name="Text 23"/>
          <p:cNvSpPr/>
          <p:nvPr/>
        </p:nvSpPr>
        <p:spPr>
          <a:xfrm>
            <a:off x="16836479" y="9725025"/>
            <a:ext cx="95622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28660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225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SHIFT ｜ 典範轉移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典範轉移：為什麼「生生用平板」無法解決問題？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085529"/>
            <a:ext cx="8029575" cy="6547991"/>
          </a:xfrm>
          <a:prstGeom prst="roundRect">
            <a:avLst>
              <a:gd name="adj" fmla="val 3491"/>
            </a:avLst>
          </a:prstGeom>
          <a:solidFill>
            <a:srgbClr val="EFEAE0"/>
          </a:solidFill>
          <a:ln w="9525">
            <a:solidFill>
              <a:srgbClr val="DC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2418904"/>
            <a:ext cx="797337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8A8170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傳統 App ／ 網頁平台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343025" y="4572744"/>
            <a:ext cx="361950" cy="361950"/>
          </a:xfrm>
          <a:prstGeom prst="ellipse">
            <a:avLst/>
          </a:prstGeom>
          <a:solidFill>
            <a:srgbClr val="D8957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8750" y="4658469"/>
            <a:ext cx="190500" cy="190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6425" y="4572744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2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螢幕觸控：引發考試焦慮與分心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343025" y="5163294"/>
            <a:ext cx="361950" cy="361950"/>
          </a:xfrm>
          <a:prstGeom prst="ellipse">
            <a:avLst/>
          </a:prstGeom>
          <a:solidFill>
            <a:srgbClr val="D8957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8750" y="5249019"/>
            <a:ext cx="19050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6425" y="5163294"/>
            <a:ext cx="5029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2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深度依賴網路：偏鄉斷網時完全失效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1343025" y="5753844"/>
            <a:ext cx="361950" cy="361950"/>
          </a:xfrm>
          <a:prstGeom prst="ellipse">
            <a:avLst/>
          </a:prstGeom>
          <a:solidFill>
            <a:srgbClr val="D8957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8750" y="5839569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76425" y="5753844"/>
            <a:ext cx="47148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2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數位鴻溝：需複雜註冊與介面操作</a:t>
            </a:r>
            <a:endParaRPr lang="en-US" sz="2250" dirty="0"/>
          </a:p>
        </p:txBody>
      </p:sp>
      <p:sp>
        <p:nvSpPr>
          <p:cNvPr id="16" name="Shape 11"/>
          <p:cNvSpPr/>
          <p:nvPr/>
        </p:nvSpPr>
        <p:spPr>
          <a:xfrm>
            <a:off x="1343025" y="6344394"/>
            <a:ext cx="361950" cy="361950"/>
          </a:xfrm>
          <a:prstGeom prst="ellipse">
            <a:avLst/>
          </a:prstGeom>
          <a:solidFill>
            <a:srgbClr val="D8957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8750" y="6430119"/>
            <a:ext cx="190500" cy="190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6425" y="6344394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5A52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冰冷的數位介面，缺乏情感連結</a:t>
            </a:r>
            <a:endParaRPr lang="en-US" sz="2250" dirty="0"/>
          </a:p>
        </p:txBody>
      </p:sp>
      <p:sp>
        <p:nvSpPr>
          <p:cNvPr id="19" name="Shape 13"/>
          <p:cNvSpPr/>
          <p:nvPr/>
        </p:nvSpPr>
        <p:spPr>
          <a:xfrm>
            <a:off x="9305925" y="2085529"/>
            <a:ext cx="8029575" cy="6547991"/>
          </a:xfrm>
          <a:prstGeom prst="roundRect">
            <a:avLst>
              <a:gd name="adj" fmla="val 3491"/>
            </a:avLst>
          </a:prstGeom>
          <a:gradFill rotWithShape="1">
            <a:gsLst>
              <a:gs pos="0">
                <a:srgbClr val="FBEFD9">
                  <a:alpha val="100000"/>
                </a:srgbClr>
              </a:gs>
              <a:gs pos="100000">
                <a:srgbClr val="F4DEB6">
                  <a:alpha val="100000"/>
                </a:srgbClr>
              </a:gs>
            </a:gsLst>
            <a:lin ang="4200000" scaled="0"/>
          </a:gradFill>
          <a:ln w="9525">
            <a:solidFill>
              <a:srgbClr val="E2BD8C"/>
            </a:solidFill>
            <a:prstDash val="solid"/>
          </a:ln>
          <a:effectLst>
            <a:outerShdw blurRad="323850" dist="152400" dir="5400000" algn="bl" rotWithShape="0">
              <a:srgbClr val="C0743A">
                <a:alpha val="14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9696450" y="2418904"/>
            <a:ext cx="797337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說說學伴（實體終端）</a:t>
            </a:r>
            <a:endParaRPr lang="en-US" sz="2550" dirty="0"/>
          </a:p>
        </p:txBody>
      </p:sp>
      <p:sp>
        <p:nvSpPr>
          <p:cNvPr id="21" name="Shape 15"/>
          <p:cNvSpPr/>
          <p:nvPr/>
        </p:nvSpPr>
        <p:spPr>
          <a:xfrm>
            <a:off x="9696450" y="4572744"/>
            <a:ext cx="361950" cy="361950"/>
          </a:xfrm>
          <a:prstGeom prst="ellipse">
            <a:avLst/>
          </a:prstGeom>
          <a:solidFill>
            <a:srgbClr val="6E7F5E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2175" y="4658469"/>
            <a:ext cx="190500" cy="1905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29850" y="4572744"/>
            <a:ext cx="59721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無螢幕實體：語音專注互動，像聊天般自然</a:t>
            </a:r>
            <a:endParaRPr lang="en-US" sz="2250" dirty="0"/>
          </a:p>
        </p:txBody>
      </p:sp>
      <p:sp>
        <p:nvSpPr>
          <p:cNvPr id="24" name="Shape 17"/>
          <p:cNvSpPr/>
          <p:nvPr/>
        </p:nvSpPr>
        <p:spPr>
          <a:xfrm>
            <a:off x="9696450" y="5163294"/>
            <a:ext cx="361950" cy="361950"/>
          </a:xfrm>
          <a:prstGeom prst="ellipse">
            <a:avLst/>
          </a:prstGeom>
          <a:solidFill>
            <a:srgbClr val="6E7F5E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2175" y="5249019"/>
            <a:ext cx="190500" cy="1905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229850" y="5163294"/>
            <a:ext cx="570696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 AI：離線即時接手，基礎陪伴不斷線</a:t>
            </a:r>
            <a:endParaRPr lang="en-US" sz="2250" dirty="0"/>
          </a:p>
        </p:txBody>
      </p:sp>
      <p:sp>
        <p:nvSpPr>
          <p:cNvPr id="27" name="Shape 19"/>
          <p:cNvSpPr/>
          <p:nvPr/>
        </p:nvSpPr>
        <p:spPr>
          <a:xfrm>
            <a:off x="9696450" y="5753844"/>
            <a:ext cx="361950" cy="361950"/>
          </a:xfrm>
          <a:prstGeom prst="ellipse">
            <a:avLst/>
          </a:prstGeom>
          <a:solidFill>
            <a:srgbClr val="6E7F5E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82175" y="5839569"/>
            <a:ext cx="190500" cy="1905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229850" y="5753844"/>
            <a:ext cx="4086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零門檻：說話即用，直覺互動</a:t>
            </a:r>
            <a:endParaRPr lang="en-US" sz="2250" dirty="0"/>
          </a:p>
        </p:txBody>
      </p:sp>
      <p:sp>
        <p:nvSpPr>
          <p:cNvPr id="30" name="Shape 21"/>
          <p:cNvSpPr/>
          <p:nvPr/>
        </p:nvSpPr>
        <p:spPr>
          <a:xfrm>
            <a:off x="9696450" y="6344394"/>
            <a:ext cx="361950" cy="361950"/>
          </a:xfrm>
          <a:prstGeom prst="ellipse">
            <a:avLst/>
          </a:prstGeom>
          <a:solidFill>
            <a:srgbClr val="6E7F5E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2175" y="6430119"/>
            <a:ext cx="190500" cy="1905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229850" y="6344394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可擁抱的物理實體，帶來安全感</a:t>
            </a:r>
            <a:endParaRPr lang="en-US" sz="2250" dirty="0"/>
          </a:p>
        </p:txBody>
      </p:sp>
      <p:sp>
        <p:nvSpPr>
          <p:cNvPr id="33" name="Shape 23"/>
          <p:cNvSpPr/>
          <p:nvPr/>
        </p:nvSpPr>
        <p:spPr>
          <a:xfrm>
            <a:off x="4857750" y="8900220"/>
            <a:ext cx="8572500" cy="777180"/>
          </a:xfrm>
          <a:prstGeom prst="roundRect">
            <a:avLst>
              <a:gd name="adj" fmla="val 50000"/>
            </a:avLst>
          </a:prstGeom>
          <a:solidFill>
            <a:srgbClr val="27374D"/>
          </a:solidFill>
          <a:ln/>
        </p:spPr>
      </p:sp>
      <p:sp>
        <p:nvSpPr>
          <p:cNvPr id="34" name="Text 24"/>
          <p:cNvSpPr/>
          <p:nvPr/>
        </p:nvSpPr>
        <p:spPr>
          <a:xfrm>
            <a:off x="5334000" y="9090720"/>
            <a:ext cx="787717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ECDA"/>
                </a:solidFill>
                <a:highlight>
                  <a:srgbClr val="27374D"/>
                </a:highlight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從「</a:t>
            </a:r>
            <a:r>
              <a:rPr lang="en-US" sz="2400" b="1" dirty="0">
                <a:solidFill>
                  <a:srgbClr val="E2A35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視覺主導的螢幕測驗</a:t>
            </a:r>
            <a:r>
              <a:rPr lang="en-US" sz="2400" b="1" dirty="0">
                <a:solidFill>
                  <a:srgbClr val="F4ECDA"/>
                </a:solidFill>
                <a:highlight>
                  <a:srgbClr val="27374D"/>
                </a:highlight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」轉向「</a:t>
            </a:r>
            <a:r>
              <a:rPr lang="en-US" sz="2400" b="1" dirty="0">
                <a:solidFill>
                  <a:srgbClr val="F4C7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聽覺主導的溫暖陪伴</a:t>
            </a:r>
            <a:r>
              <a:rPr lang="en-US" sz="2400" b="1" dirty="0">
                <a:solidFill>
                  <a:srgbClr val="F4ECDA"/>
                </a:solidFill>
                <a:highlight>
                  <a:srgbClr val="27374D"/>
                </a:highlight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</a:t>
            </a:r>
            <a:endParaRPr lang="en-US" sz="2400" dirty="0"/>
          </a:p>
        </p:txBody>
      </p:sp>
      <p:sp>
        <p:nvSpPr>
          <p:cNvPr id="35" name="Text 25"/>
          <p:cNvSpPr/>
          <p:nvPr/>
        </p:nvSpPr>
        <p:spPr>
          <a:xfrm>
            <a:off x="16839754" y="9725025"/>
            <a:ext cx="9529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56374"/>
            <a:ext cx="29383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kern="0" spc="225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SOLUTION ｜ 方案核心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重新定義普惠科技 —「說說學伴」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80729"/>
            <a:ext cx="1802130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00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一個學童可以抱在懷中、用說話就能互動的 AI 實體夥伴。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715000" y="3815507"/>
            <a:ext cx="11620500" cy="1337221"/>
          </a:xfrm>
          <a:prstGeom prst="roundRect">
            <a:avLst>
              <a:gd name="adj" fmla="val 14246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29325" y="4131618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BEFD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0775" y="4303068"/>
            <a:ext cx="361950" cy="361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1825" y="4072682"/>
            <a:ext cx="722947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不需要螢幕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981825" y="4495502"/>
            <a:ext cx="72294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消除注意力分散與考試焦慮，回歸純粹的語音陪伴。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5715000" y="5362277"/>
            <a:ext cx="11620500" cy="1337221"/>
          </a:xfrm>
          <a:prstGeom prst="roundRect">
            <a:avLst>
              <a:gd name="adj" fmla="val 14246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29325" y="5678388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EAF0E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0775" y="5849838"/>
            <a:ext cx="361950" cy="3619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81825" y="5619452"/>
            <a:ext cx="703498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不需要網路也能用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981825" y="6042273"/>
            <a:ext cx="703498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國產邊緣 AI 賦能，偏鄉斷網時基礎功能絕不中斷。</a:t>
            </a:r>
            <a:endParaRPr lang="en-US" sz="2250" dirty="0"/>
          </a:p>
        </p:txBody>
      </p:sp>
      <p:sp>
        <p:nvSpPr>
          <p:cNvPr id="17" name="Shape 12"/>
          <p:cNvSpPr/>
          <p:nvPr/>
        </p:nvSpPr>
        <p:spPr>
          <a:xfrm>
            <a:off x="5715000" y="6909048"/>
            <a:ext cx="11620500" cy="1337221"/>
          </a:xfrm>
          <a:prstGeom prst="roundRect">
            <a:avLst>
              <a:gd name="adj" fmla="val 14246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29325" y="7225159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BEFD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0775" y="7396609"/>
            <a:ext cx="361950" cy="3619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1825" y="7166223"/>
            <a:ext cx="675798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不需要會操作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981825" y="7589044"/>
            <a:ext cx="67579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消除數位鴻溝，開口「說話即用」，零門檻互動。</a:t>
            </a:r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16833354" y="9725025"/>
            <a:ext cx="9593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37453F29-2D0E-134D-AABA-0741F15E96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29" y="3377952"/>
            <a:ext cx="6245583" cy="4999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33794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TECHNOLOGY ｜ 系統架構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雙網混成大腦：Edge × Cloud 彈性推論架構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028379"/>
            <a:ext cx="6991350" cy="7572821"/>
          </a:xfrm>
          <a:prstGeom prst="roundRect">
            <a:avLst>
              <a:gd name="adj" fmla="val 3542"/>
            </a:avLst>
          </a:prstGeom>
          <a:gradFill rotWithShape="1">
            <a:gsLst>
              <a:gs pos="0">
                <a:srgbClr val="EAF0E2">
                  <a:alpha val="100000"/>
                </a:srgbClr>
              </a:gs>
              <a:gs pos="100000">
                <a:srgbClr val="DCE7CE">
                  <a:alpha val="100000"/>
                </a:srgbClr>
              </a:gs>
            </a:gsLst>
            <a:lin ang="4200000" scaled="0"/>
          </a:gradFill>
          <a:ln w="9525">
            <a:solidFill>
              <a:srgbClr val="BFC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4058692"/>
            <a:ext cx="68313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75" dirty="0">
                <a:solidFill>
                  <a:srgbClr val="5E73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本地邊緣端 · EDGE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43025" y="4468267"/>
            <a:ext cx="683133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聯發科 Genio 520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343025" y="5099745"/>
            <a:ext cx="6210300" cy="9525"/>
          </a:xfrm>
          <a:prstGeom prst="rect">
            <a:avLst/>
          </a:prstGeom>
          <a:solidFill>
            <a:srgbClr val="C2CFAE"/>
          </a:solidFill>
          <a:ln/>
        </p:spPr>
      </p:sp>
      <p:sp>
        <p:nvSpPr>
          <p:cNvPr id="9" name="Shape 7"/>
          <p:cNvSpPr/>
          <p:nvPr/>
        </p:nvSpPr>
        <p:spPr>
          <a:xfrm>
            <a:off x="1343025" y="5417344"/>
            <a:ext cx="85725" cy="857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0" name="Text 8"/>
          <p:cNvSpPr/>
          <p:nvPr/>
        </p:nvSpPr>
        <p:spPr>
          <a:xfrm>
            <a:off x="1543050" y="5252145"/>
            <a:ext cx="1181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4A4D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精準控制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343025" y="5900142"/>
            <a:ext cx="85725" cy="857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2" name="Text 10"/>
          <p:cNvSpPr/>
          <p:nvPr/>
        </p:nvSpPr>
        <p:spPr>
          <a:xfrm>
            <a:off x="1543050" y="5734943"/>
            <a:ext cx="20097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4A4D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隱私資料不落地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343025" y="6382941"/>
            <a:ext cx="85725" cy="857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4" name="Text 12"/>
          <p:cNvSpPr/>
          <p:nvPr/>
        </p:nvSpPr>
        <p:spPr>
          <a:xfrm>
            <a:off x="1543050" y="6217741"/>
            <a:ext cx="1181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4A4D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斷網可用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343025" y="6865739"/>
            <a:ext cx="85725" cy="857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6" name="Text 14"/>
          <p:cNvSpPr/>
          <p:nvPr/>
        </p:nvSpPr>
        <p:spPr>
          <a:xfrm>
            <a:off x="1543050" y="6700540"/>
            <a:ext cx="258410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4A4D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即時語音喚醒 (KWS)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343025" y="7348538"/>
            <a:ext cx="85725" cy="857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8" name="Text 16"/>
          <p:cNvSpPr/>
          <p:nvPr/>
        </p:nvSpPr>
        <p:spPr>
          <a:xfrm>
            <a:off x="1543050" y="7183338"/>
            <a:ext cx="1733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dirty="0">
                <a:solidFill>
                  <a:srgbClr val="4A4D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本地發音評測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8138160" y="4938564"/>
            <a:ext cx="201168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9A8F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不穩定的偏鄉網路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81975" y="5368975"/>
            <a:ext cx="1924050" cy="628650"/>
          </a:xfrm>
          <a:prstGeom prst="roundRect">
            <a:avLst>
              <a:gd name="adj" fmla="val 50000"/>
            </a:avLst>
          </a:prstGeom>
          <a:solidFill>
            <a:srgbClr val="FBF6EB"/>
          </a:solidFill>
          <a:ln w="9525">
            <a:solidFill>
              <a:srgbClr val="DCD0B6"/>
            </a:solidFill>
            <a:prstDash val="solid"/>
          </a:ln>
          <a:effectLst>
            <a:outerShdw blurRad="171450" dist="76200" dir="5400000" algn="bl" rotWithShape="0">
              <a:srgbClr val="48371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7700" y="5521375"/>
            <a:ext cx="323850" cy="323850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5569000"/>
            <a:ext cx="990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A6F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自動切換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96450" y="5521375"/>
            <a:ext cx="323850" cy="323850"/>
          </a:xfrm>
          <a:prstGeom prst="ellipse">
            <a:avLst/>
          </a:prstGeom>
          <a:solidFill>
            <a:srgbClr val="C07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389620" y="6130975"/>
            <a:ext cx="150876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雙網混成推論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0" y="6576715"/>
            <a:ext cx="2286000" cy="19050"/>
          </a:xfrm>
          <a:prstGeom prst="rect">
            <a:avLst/>
          </a:prstGeom>
          <a:solidFill>
            <a:srgbClr val="B7AB9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6500" y="6452890"/>
            <a:ext cx="304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7AB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▶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0" y="6671965"/>
            <a:ext cx="2286000" cy="19050"/>
          </a:xfrm>
          <a:prstGeom prst="rect">
            <a:avLst/>
          </a:prstGeom>
          <a:solidFill>
            <a:srgbClr val="B7AB9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2900" y="6548140"/>
            <a:ext cx="304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7AB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344150" y="2028379"/>
            <a:ext cx="6991350" cy="7572821"/>
          </a:xfrm>
          <a:prstGeom prst="roundRect">
            <a:avLst>
              <a:gd name="adj" fmla="val 3542"/>
            </a:avLst>
          </a:prstGeom>
          <a:gradFill rotWithShape="1">
            <a:gsLst>
              <a:gs pos="0">
                <a:srgbClr val="E3ECF5">
                  <a:alpha val="100000"/>
                </a:srgbClr>
              </a:gs>
              <a:gs pos="100000">
                <a:srgbClr val="CFDFF0">
                  <a:alpha val="100000"/>
                </a:srgbClr>
              </a:gs>
            </a:gsLst>
            <a:lin ang="4200000" scaled="0"/>
          </a:gradFill>
          <a:ln w="9525">
            <a:solidFill>
              <a:srgbClr val="A9C2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34675" y="4520654"/>
            <a:ext cx="68313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75" dirty="0">
                <a:solidFill>
                  <a:srgbClr val="3A6CA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雲端生成層 · CLOUD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0734675" y="4930229"/>
            <a:ext cx="683133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AWS Bedrock</a:t>
            </a:r>
            <a:endParaRPr lang="en-US" sz="3450" dirty="0"/>
          </a:p>
        </p:txBody>
      </p:sp>
      <p:sp>
        <p:nvSpPr>
          <p:cNvPr id="32" name="Shape 30"/>
          <p:cNvSpPr/>
          <p:nvPr/>
        </p:nvSpPr>
        <p:spPr>
          <a:xfrm>
            <a:off x="10734675" y="5561707"/>
            <a:ext cx="6210300" cy="9525"/>
          </a:xfrm>
          <a:prstGeom prst="rect">
            <a:avLst/>
          </a:prstGeom>
          <a:solidFill>
            <a:srgbClr val="AEC6D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34675" y="5828407"/>
            <a:ext cx="85725" cy="85725"/>
          </a:xfrm>
          <a:prstGeom prst="ellipse">
            <a:avLst/>
          </a:prstGeom>
          <a:solidFill>
            <a:srgbClr val="3A6CA0"/>
          </a:solidFill>
          <a:ln/>
        </p:spPr>
      </p:sp>
      <p:sp>
        <p:nvSpPr>
          <p:cNvPr id="34" name="Text 32"/>
          <p:cNvSpPr/>
          <p:nvPr/>
        </p:nvSpPr>
        <p:spPr>
          <a:xfrm>
            <a:off x="10934700" y="5723632"/>
            <a:ext cx="1733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3647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進階情境對話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10734675" y="6325046"/>
            <a:ext cx="85725" cy="85725"/>
          </a:xfrm>
          <a:prstGeom prst="ellipse">
            <a:avLst/>
          </a:prstGeom>
          <a:solidFill>
            <a:srgbClr val="3A6CA0"/>
          </a:solidFill>
          <a:ln/>
        </p:spPr>
      </p:sp>
      <p:sp>
        <p:nvSpPr>
          <p:cNvPr id="36" name="Text 34"/>
          <p:cNvSpPr/>
          <p:nvPr/>
        </p:nvSpPr>
        <p:spPr>
          <a:xfrm>
            <a:off x="10934700" y="6220271"/>
            <a:ext cx="51721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3647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 技術串接（酷英網、均一教育平台）</a:t>
            </a:r>
            <a:endParaRPr lang="en-US" sz="2175" dirty="0"/>
          </a:p>
        </p:txBody>
      </p:sp>
      <p:sp>
        <p:nvSpPr>
          <p:cNvPr id="37" name="Shape 35"/>
          <p:cNvSpPr/>
          <p:nvPr/>
        </p:nvSpPr>
        <p:spPr>
          <a:xfrm>
            <a:off x="10734675" y="6821686"/>
            <a:ext cx="85725" cy="85725"/>
          </a:xfrm>
          <a:prstGeom prst="ellipse">
            <a:avLst/>
          </a:prstGeom>
          <a:solidFill>
            <a:srgbClr val="3A6CA0"/>
          </a:solidFill>
          <a:ln/>
        </p:spPr>
      </p:sp>
      <p:sp>
        <p:nvSpPr>
          <p:cNvPr id="38" name="Text 36"/>
          <p:cNvSpPr/>
          <p:nvPr/>
        </p:nvSpPr>
        <p:spPr>
          <a:xfrm>
            <a:off x="10934700" y="6716911"/>
            <a:ext cx="42196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3647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反思教學 AI 助教 · 教師報表生成</a:t>
            </a:r>
            <a:endParaRPr lang="en-US" sz="2175" dirty="0"/>
          </a:p>
        </p:txBody>
      </p:sp>
      <p:sp>
        <p:nvSpPr>
          <p:cNvPr id="39" name="Text 37"/>
          <p:cNvSpPr/>
          <p:nvPr/>
        </p:nvSpPr>
        <p:spPr>
          <a:xfrm>
            <a:off x="16830229" y="9725025"/>
            <a:ext cx="96247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33794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TECHNOLOGY ｜ 國產晶片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邊緣 AI 的使能價值：為什麼必須是國產晶片？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238250" y="3260229"/>
            <a:ext cx="2857500" cy="2857500"/>
          </a:xfrm>
          <a:prstGeom prst="roundRect">
            <a:avLst>
              <a:gd name="adj" fmla="val 11333"/>
            </a:avLst>
          </a:prstGeom>
          <a:gradFill rotWithShape="1">
            <a:gsLst>
              <a:gs pos="0">
                <a:srgbClr val="3A5070">
                  <a:alpha val="100000"/>
                </a:srgbClr>
              </a:gs>
              <a:gs pos="100000">
                <a:srgbClr val="27374D">
                  <a:alpha val="100000"/>
                </a:srgbClr>
              </a:gs>
            </a:gsLst>
            <a:lin ang="3600000" scaled="0"/>
          </a:gradFill>
          <a:ln/>
          <a:effectLst>
            <a:outerShdw blurRad="457200" dist="228600" dir="5400000" algn="bl" rotWithShape="0">
              <a:srgbClr val="27374D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3622179"/>
            <a:ext cx="2133600" cy="2133600"/>
          </a:xfrm>
          <a:prstGeom prst="roundRect">
            <a:avLst>
              <a:gd name="adj" fmla="val 9821"/>
            </a:avLst>
          </a:prstGeom>
          <a:ln w="19050">
            <a:solidFill>
              <a:srgbClr val="B4C8E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57375" y="3879354"/>
            <a:ext cx="1619250" cy="1619250"/>
          </a:xfrm>
          <a:prstGeom prst="roundRect">
            <a:avLst>
              <a:gd name="adj" fmla="val 10588"/>
            </a:avLst>
          </a:prstGeom>
          <a:gradFill rotWithShape="1">
            <a:gsLst>
              <a:gs pos="0">
                <a:srgbClr val="5B7BA6">
                  <a:alpha val="100000"/>
                </a:srgbClr>
              </a:gs>
              <a:gs pos="100000">
                <a:srgbClr val="3E5A82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2148334" y="4391769"/>
            <a:ext cx="1113383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CE7F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MediaTek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1852" y="4643140"/>
            <a:ext cx="15513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Genio 520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6365379"/>
            <a:ext cx="3429000" cy="963811"/>
          </a:xfrm>
          <a:prstGeom prst="roundRect">
            <a:avLst>
              <a:gd name="adj" fmla="val 15812"/>
            </a:avLst>
          </a:prstGeom>
          <a:gradFill rotWithShape="1">
            <a:gsLst>
              <a:gs pos="0">
                <a:srgbClr val="E89B4D">
                  <a:alpha val="100000"/>
                </a:srgbClr>
              </a:gs>
              <a:gs pos="100000">
                <a:srgbClr val="C0743A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948690" y="6536829"/>
            <a:ext cx="343662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Privacy by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8690" y="6849219"/>
            <a:ext cx="343662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dirty="0">
                <a:solidFill>
                  <a:srgbClr val="FBEA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未成年語音即時處理不上雲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7462540"/>
            <a:ext cx="3429000" cy="963811"/>
          </a:xfrm>
          <a:prstGeom prst="roundRect">
            <a:avLst>
              <a:gd name="adj" fmla="val 15812"/>
            </a:avLst>
          </a:prstGeom>
          <a:gradFill rotWithShape="1">
            <a:gsLst>
              <a:gs pos="0">
                <a:srgbClr val="7C8F68">
                  <a:alpha val="100000"/>
                </a:srgbClr>
              </a:gs>
              <a:gs pos="100000">
                <a:srgbClr val="5E7355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948690" y="7633990"/>
            <a:ext cx="343662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Zero Network Dep.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8690" y="7946380"/>
            <a:ext cx="343662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 dirty="0">
                <a:solidFill>
                  <a:srgbClr val="EBF0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弭平城鄉數位建設落差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38700" y="3231654"/>
            <a:ext cx="12496800" cy="1177230"/>
          </a:xfrm>
          <a:prstGeom prst="roundRect">
            <a:avLst>
              <a:gd name="adj" fmla="val 12946"/>
            </a:avLst>
          </a:prstGeom>
          <a:solidFill>
            <a:srgbClr val="FCF8E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38700" y="4399359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18" name="Shape 16"/>
          <p:cNvSpPr/>
          <p:nvPr/>
        </p:nvSpPr>
        <p:spPr>
          <a:xfrm>
            <a:off x="4838700" y="3231654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38700" y="3231654"/>
            <a:ext cx="47625" cy="117723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25975" y="3231654"/>
            <a:ext cx="9525" cy="1177230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1" name="Text 19"/>
          <p:cNvSpPr/>
          <p:nvPr/>
        </p:nvSpPr>
        <p:spPr>
          <a:xfrm>
            <a:off x="5172075" y="3450729"/>
            <a:ext cx="130549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7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NPU 算力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5172075" y="3829794"/>
            <a:ext cx="130549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TOPS (INT8)，足以並行運作 ASR / LLM / TTS 三大模型。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4838700" y="4580334"/>
            <a:ext cx="12496800" cy="1177230"/>
          </a:xfrm>
          <a:prstGeom prst="roundRect">
            <a:avLst>
              <a:gd name="adj" fmla="val 12946"/>
            </a:avLst>
          </a:prstGeom>
          <a:solidFill>
            <a:srgbClr val="FCF8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38700" y="5748040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38700" y="4580334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38700" y="4580334"/>
            <a:ext cx="47625" cy="1177230"/>
          </a:xfrm>
          <a:prstGeom prst="rect">
            <a:avLst/>
          </a:prstGeom>
          <a:solidFill>
            <a:srgbClr val="3A6C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7325975" y="4580334"/>
            <a:ext cx="9525" cy="1177230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8" name="Text 26"/>
          <p:cNvSpPr/>
          <p:nvPr/>
        </p:nvSpPr>
        <p:spPr>
          <a:xfrm>
            <a:off x="5172075" y="4799409"/>
            <a:ext cx="130549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7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離線 ASR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5172075" y="5178475"/>
            <a:ext cx="130549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Breeze-ASR / SenseVoice，辨識延遲低於 200ms，支援 KWS 喚醒。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4838700" y="5929015"/>
            <a:ext cx="12496800" cy="1177230"/>
          </a:xfrm>
          <a:prstGeom prst="roundRect">
            <a:avLst>
              <a:gd name="adj" fmla="val 12946"/>
            </a:avLst>
          </a:prstGeom>
          <a:solidFill>
            <a:srgbClr val="FCF8E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38700" y="7096720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2" name="Shape 30"/>
          <p:cNvSpPr/>
          <p:nvPr/>
        </p:nvSpPr>
        <p:spPr>
          <a:xfrm>
            <a:off x="4838700" y="5929015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3" name="Shape 31"/>
          <p:cNvSpPr/>
          <p:nvPr/>
        </p:nvSpPr>
        <p:spPr>
          <a:xfrm>
            <a:off x="4838700" y="5929015"/>
            <a:ext cx="47625" cy="1177230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7325975" y="5929015"/>
            <a:ext cx="9525" cy="1177230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5" name="Text 33"/>
          <p:cNvSpPr/>
          <p:nvPr/>
        </p:nvSpPr>
        <p:spPr>
          <a:xfrm>
            <a:off x="5172075" y="6148090"/>
            <a:ext cx="130549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7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離線 LLM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5172075" y="6527155"/>
            <a:ext cx="130549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Qwen3 1.7B（INT4 量化），推論速度約 20 tok/s，即時生成鷹架引導。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4838700" y="7277695"/>
            <a:ext cx="12496800" cy="1177230"/>
          </a:xfrm>
          <a:prstGeom prst="roundRect">
            <a:avLst>
              <a:gd name="adj" fmla="val 12946"/>
            </a:avLst>
          </a:prstGeom>
          <a:solidFill>
            <a:srgbClr val="FCF8E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38700" y="8445401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9" name="Shape 37"/>
          <p:cNvSpPr/>
          <p:nvPr/>
        </p:nvSpPr>
        <p:spPr>
          <a:xfrm>
            <a:off x="4838700" y="7277695"/>
            <a:ext cx="1249680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38700" y="7277695"/>
            <a:ext cx="47625" cy="1177230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41" name="Shape 39"/>
          <p:cNvSpPr/>
          <p:nvPr/>
        </p:nvSpPr>
        <p:spPr>
          <a:xfrm>
            <a:off x="17325975" y="7277695"/>
            <a:ext cx="9525" cy="1177230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42" name="Text 40"/>
          <p:cNvSpPr/>
          <p:nvPr/>
        </p:nvSpPr>
        <p:spPr>
          <a:xfrm>
            <a:off x="5172075" y="7496770"/>
            <a:ext cx="130549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7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離線 TTS</a:t>
            </a:r>
            <a:endParaRPr lang="en-US" sz="2175" dirty="0"/>
          </a:p>
        </p:txBody>
      </p:sp>
      <p:sp>
        <p:nvSpPr>
          <p:cNvPr id="43" name="Text 41"/>
          <p:cNvSpPr/>
          <p:nvPr/>
        </p:nvSpPr>
        <p:spPr>
          <a:xfrm>
            <a:off x="5172075" y="7875836"/>
            <a:ext cx="130549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首音延遲低於 150ms，支援中英雙語自然朗讀。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6851213" y="9725025"/>
            <a:ext cx="94148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4850"/>
            <a:ext cx="27292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25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PEDAGOGY ｜ 教學法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鷹架式語伴教學法（Scaffolding Pedagogy）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028379"/>
            <a:ext cx="9913590" cy="6583710"/>
          </a:xfrm>
          <a:prstGeom prst="roundRect">
            <a:avLst>
              <a:gd name="adj" fmla="val 3472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3025" y="3374678"/>
            <a:ext cx="495300" cy="495300"/>
          </a:xfrm>
          <a:prstGeom prst="ellipse">
            <a:avLst/>
          </a:prstGeom>
          <a:solidFill>
            <a:srgbClr val="CDA06A"/>
          </a:solidFill>
          <a:ln/>
        </p:spPr>
      </p:sp>
      <p:sp>
        <p:nvSpPr>
          <p:cNvPr id="7" name="Text 5"/>
          <p:cNvSpPr/>
          <p:nvPr/>
        </p:nvSpPr>
        <p:spPr>
          <a:xfrm>
            <a:off x="1304925" y="3374678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21666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90725" y="3374678"/>
            <a:ext cx="2435870" cy="704850"/>
          </a:xfrm>
          <a:prstGeom prst="roundRect">
            <a:avLst>
              <a:gd name="adj" fmla="val 8108"/>
            </a:avLst>
          </a:prstGeom>
          <a:solidFill>
            <a:srgbClr val="EFE7D6"/>
          </a:solidFill>
          <a:ln/>
        </p:spPr>
      </p:sp>
      <p:sp>
        <p:nvSpPr>
          <p:cNvPr id="9" name="Text 7"/>
          <p:cNvSpPr/>
          <p:nvPr/>
        </p:nvSpPr>
        <p:spPr>
          <a:xfrm>
            <a:off x="2219325" y="3527078"/>
            <a:ext cx="20548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我想吃 apple。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80265" y="4289078"/>
            <a:ext cx="495300" cy="495300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1" name="Text 9"/>
          <p:cNvSpPr/>
          <p:nvPr/>
        </p:nvSpPr>
        <p:spPr>
          <a:xfrm>
            <a:off x="9942165" y="4289078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21666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93813" y="4289078"/>
            <a:ext cx="8134052" cy="719138"/>
          </a:xfrm>
          <a:prstGeom prst="roundRect">
            <a:avLst>
              <a:gd name="adj" fmla="val 26490"/>
            </a:avLst>
          </a:prstGeom>
          <a:gradFill rotWithShape="1">
            <a:gsLst>
              <a:gs pos="0">
                <a:srgbClr val="EAF0E2">
                  <a:alpha val="100000"/>
                </a:srgbClr>
              </a:gs>
              <a:gs pos="100000">
                <a:srgbClr val="DCE7CE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1922413" y="4441478"/>
            <a:ext cx="792087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F4A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哇，阿明想吃蘋果！跟著我說一遍：</a:t>
            </a:r>
            <a:r>
              <a:rPr lang="en-US" sz="2250" b="1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 want to eat an apple.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43025" y="5217765"/>
            <a:ext cx="495300" cy="495300"/>
          </a:xfrm>
          <a:prstGeom prst="ellipse">
            <a:avLst/>
          </a:prstGeom>
          <a:solidFill>
            <a:srgbClr val="CDA06A"/>
          </a:solidFill>
          <a:ln/>
        </p:spPr>
      </p:sp>
      <p:sp>
        <p:nvSpPr>
          <p:cNvPr id="15" name="Text 13"/>
          <p:cNvSpPr/>
          <p:nvPr/>
        </p:nvSpPr>
        <p:spPr>
          <a:xfrm>
            <a:off x="1304925" y="521776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21666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90725" y="5217765"/>
            <a:ext cx="3719364" cy="704850"/>
          </a:xfrm>
          <a:prstGeom prst="roundRect">
            <a:avLst>
              <a:gd name="adj" fmla="val 8108"/>
            </a:avLst>
          </a:prstGeom>
          <a:solidFill>
            <a:srgbClr val="EFE7D6"/>
          </a:solidFill>
          <a:ln/>
        </p:spPr>
      </p:sp>
      <p:sp>
        <p:nvSpPr>
          <p:cNvPr id="17" name="Text 15"/>
          <p:cNvSpPr/>
          <p:nvPr/>
        </p:nvSpPr>
        <p:spPr>
          <a:xfrm>
            <a:off x="2219325" y="5370165"/>
            <a:ext cx="33737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 want to eat... an apple.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80265" y="6132165"/>
            <a:ext cx="495300" cy="495300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9" name="Text 17"/>
          <p:cNvSpPr/>
          <p:nvPr/>
        </p:nvSpPr>
        <p:spPr>
          <a:xfrm>
            <a:off x="9942165" y="613216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21666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43025" y="6132165"/>
            <a:ext cx="8484840" cy="1133475"/>
          </a:xfrm>
          <a:prstGeom prst="roundRect">
            <a:avLst>
              <a:gd name="adj" fmla="val 16807"/>
            </a:avLst>
          </a:prstGeom>
          <a:gradFill rotWithShape="1">
            <a:gsLst>
              <a:gs pos="0">
                <a:srgbClr val="EAF0E2">
                  <a:alpha val="100000"/>
                </a:srgbClr>
              </a:gs>
              <a:gs pos="100000">
                <a:srgbClr val="DCE7CE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1571625" y="6284565"/>
            <a:ext cx="82821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3F4A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太棒了！你說得很好！apple 的 /æ/ 音再大聲一點會更好聽喔。我們再來一次好嗎？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247090" y="3567559"/>
            <a:ext cx="6088410" cy="1647825"/>
          </a:xfrm>
          <a:prstGeom prst="roundRect">
            <a:avLst>
              <a:gd name="adj" fmla="val 11561"/>
            </a:avLst>
          </a:prstGeom>
          <a:solidFill>
            <a:srgbClr val="FBEFD9"/>
          </a:solidFill>
          <a:ln w="9525">
            <a:solidFill>
              <a:srgbClr val="E2B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42365" y="3824734"/>
            <a:ext cx="60476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教學策略 ①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542365" y="4158109"/>
            <a:ext cx="566279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5A50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允許中英混合輸入、不糾錯，直接以正面語氣示範正確用法。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247090" y="5424934"/>
            <a:ext cx="6088410" cy="1647825"/>
          </a:xfrm>
          <a:prstGeom prst="roundRect">
            <a:avLst>
              <a:gd name="adj" fmla="val 11561"/>
            </a:avLst>
          </a:prstGeom>
          <a:solidFill>
            <a:srgbClr val="EAF0E2"/>
          </a:solidFill>
          <a:ln w="9525">
            <a:solidFill>
              <a:srgbClr val="BFCE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42365" y="5682109"/>
            <a:ext cx="60476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5E73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教學策略 ②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1542365" y="6015484"/>
            <a:ext cx="566279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F4A3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給予即時正面回饋，逐步鷹架引導，重建開口的自信心。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8859738"/>
            <a:ext cx="16383000" cy="855762"/>
          </a:xfrm>
          <a:prstGeom prst="roundRect">
            <a:avLst>
              <a:gd name="adj" fmla="val 22261"/>
            </a:avLst>
          </a:prstGeom>
          <a:solidFill>
            <a:srgbClr val="27374D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" y="9144744"/>
            <a:ext cx="1104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kern="0" spc="150" dirty="0">
                <a:solidFill>
                  <a:srgbClr val="F4C76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核心原則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2609850" y="9097119"/>
            <a:ext cx="9525" cy="381000"/>
          </a:xfrm>
          <a:prstGeom prst="rect">
            <a:avLst/>
          </a:prstGeom>
          <a:solidFill>
            <a:srgbClr val="F4ECDA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867025" y="9088338"/>
            <a:ext cx="909447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b="1" dirty="0">
                <a:solidFill>
                  <a:srgbClr val="F4EC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不指出錯誤，而是用正面語氣示範正確用法，重建學習自信心。</a:t>
            </a:r>
            <a:endParaRPr lang="en-US" sz="2325" dirty="0"/>
          </a:p>
        </p:txBody>
      </p:sp>
      <p:sp>
        <p:nvSpPr>
          <p:cNvPr id="32" name="Text 30"/>
          <p:cNvSpPr/>
          <p:nvPr/>
        </p:nvSpPr>
        <p:spPr>
          <a:xfrm>
            <a:off x="16832461" y="9725025"/>
            <a:ext cx="9602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700311"/>
            <a:ext cx="3458514" cy="6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225" dirty="0">
                <a:solidFill>
                  <a:srgbClr val="C074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IMPACT ｜ 落地情境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落地情境一：偏鄉學習扶助課堂的「無壓力伴讀鷹架」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3165872"/>
            <a:ext cx="7629525" cy="3053655"/>
          </a:xfrm>
          <a:prstGeom prst="roundRect">
            <a:avLst>
              <a:gd name="adj" fmla="val 6862"/>
            </a:avLst>
          </a:prstGeom>
          <a:gradFill rotWithShape="1">
            <a:gsLst>
              <a:gs pos="0">
                <a:srgbClr val="FBEFD9">
                  <a:alpha val="100000"/>
                </a:srgbClr>
              </a:gs>
              <a:gs pos="100000">
                <a:srgbClr val="F4DEB6">
                  <a:alpha val="100000"/>
                </a:srgbClr>
              </a:gs>
            </a:gsLst>
            <a:lin ang="3600000" scaled="0"/>
          </a:gradFill>
          <a:ln w="9525">
            <a:solidFill>
              <a:srgbClr val="E2B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3499247"/>
            <a:ext cx="75752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25" b="1" kern="0" spc="75" dirty="0">
                <a:solidFill>
                  <a:srgbClr val="A666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對學童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323975" y="3889772"/>
            <a:ext cx="7093172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從害怕考試， 到主動開口對話。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23975" y="5000327"/>
            <a:ext cx="709317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6B5C4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沒有螢幕、沒有分數、沒有紅色錯誤標記，只有一個像朋友般耐心的聲音。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52500" y="6467177"/>
            <a:ext cx="7629525" cy="2034480"/>
          </a:xfrm>
          <a:prstGeom prst="roundRect">
            <a:avLst>
              <a:gd name="adj" fmla="val 10300"/>
            </a:avLst>
          </a:prstGeom>
          <a:gradFill rotWithShape="1">
            <a:gsLst>
              <a:gs pos="0">
                <a:srgbClr val="EAF0E2">
                  <a:alpha val="100000"/>
                </a:srgbClr>
              </a:gs>
              <a:gs pos="100000">
                <a:srgbClr val="DCE7CE">
                  <a:alpha val="100000"/>
                </a:srgbClr>
              </a:gs>
            </a:gsLst>
            <a:lin ang="3600000" scaled="0"/>
          </a:gradFill>
          <a:ln w="9525">
            <a:solidFill>
              <a:srgbClr val="BFCE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3975" y="6800552"/>
            <a:ext cx="75752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25" b="1" kern="0" spc="75" dirty="0">
                <a:solidFill>
                  <a:srgbClr val="5E73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對教師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323975" y="7191077"/>
            <a:ext cx="7093172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免除手動派課與數據分析， 專注於精準差異化教學。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039225" y="2066479"/>
            <a:ext cx="8296275" cy="7534721"/>
          </a:xfrm>
          <a:prstGeom prst="roundRect">
            <a:avLst>
              <a:gd name="adj" fmla="val 3034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  <a:effectLst>
            <a:outerShdw blurRad="342900" dist="152400" dir="5400000" algn="bl" rotWithShape="0">
              <a:srgbClr val="48371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72600" y="2799904"/>
            <a:ext cx="7629525" cy="9525"/>
          </a:xfrm>
          <a:prstGeom prst="rect">
            <a:avLst/>
          </a:prstGeom>
          <a:solidFill>
            <a:srgbClr val="ECE2CD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361754"/>
            <a:ext cx="23315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AI 助教教師報表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6497300" y="2442716"/>
            <a:ext cx="123825" cy="123825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6687800" y="2442716"/>
            <a:ext cx="123825" cy="123825"/>
          </a:xfrm>
          <a:prstGeom prst="ellipse">
            <a:avLst/>
          </a:prstGeom>
          <a:solidFill>
            <a:srgbClr val="6E7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6878300" y="2442716"/>
            <a:ext cx="123825" cy="123825"/>
          </a:xfrm>
          <a:prstGeom prst="ellipse">
            <a:avLst/>
          </a:prstGeom>
          <a:solidFill>
            <a:srgbClr val="CDA06A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999929"/>
            <a:ext cx="83924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A6F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診斷結果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2600" y="3419029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口說流暢度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526768" y="3419029"/>
            <a:ext cx="551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82%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72600" y="3714304"/>
            <a:ext cx="7629525" cy="133350"/>
          </a:xfrm>
          <a:prstGeom prst="roundRect">
            <a:avLst>
              <a:gd name="adj" fmla="val 50000"/>
            </a:avLst>
          </a:prstGeom>
          <a:solidFill>
            <a:srgbClr val="ECE2CD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3714304"/>
            <a:ext cx="6256139" cy="133350"/>
          </a:xfrm>
          <a:prstGeom prst="roundRect">
            <a:avLst>
              <a:gd name="adj" fmla="val 50000"/>
            </a:avLst>
          </a:prstGeom>
          <a:solidFill>
            <a:srgbClr val="6E7F5E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4000054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句型正確度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526768" y="4000054"/>
            <a:ext cx="551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74%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72600" y="4295329"/>
            <a:ext cx="7629525" cy="133350"/>
          </a:xfrm>
          <a:prstGeom prst="roundRect">
            <a:avLst>
              <a:gd name="adj" fmla="val 50000"/>
            </a:avLst>
          </a:prstGeom>
          <a:solidFill>
            <a:srgbClr val="ECE2CD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4295329"/>
            <a:ext cx="5645795" cy="133350"/>
          </a:xfrm>
          <a:prstGeom prst="roundRect">
            <a:avLst>
              <a:gd name="adj" fmla="val 50000"/>
            </a:avLst>
          </a:prstGeom>
          <a:solidFill>
            <a:srgbClr val="E2A35A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4581079"/>
            <a:ext cx="990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母音發音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26768" y="4581079"/>
            <a:ext cx="551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48%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72600" y="4876354"/>
            <a:ext cx="7629525" cy="133350"/>
          </a:xfrm>
          <a:prstGeom prst="roundRect">
            <a:avLst>
              <a:gd name="adj" fmla="val 50000"/>
            </a:avLst>
          </a:prstGeom>
          <a:solidFill>
            <a:srgbClr val="ECE2CD"/>
          </a:solidFill>
          <a:ln/>
        </p:spPr>
      </p:sp>
      <p:sp>
        <p:nvSpPr>
          <p:cNvPr id="30" name="Shape 28"/>
          <p:cNvSpPr/>
          <p:nvPr/>
        </p:nvSpPr>
        <p:spPr>
          <a:xfrm>
            <a:off x="9372600" y="4876354"/>
            <a:ext cx="3662065" cy="133350"/>
          </a:xfrm>
          <a:prstGeom prst="roundRect">
            <a:avLst>
              <a:gd name="adj" fmla="val 50000"/>
            </a:avLst>
          </a:prstGeom>
          <a:solidFill>
            <a:srgbClr val="D8957F"/>
          </a:solidFill>
          <a:ln/>
        </p:spPr>
      </p:sp>
      <p:sp>
        <p:nvSpPr>
          <p:cNvPr id="31" name="Shape 29"/>
          <p:cNvSpPr/>
          <p:nvPr/>
        </p:nvSpPr>
        <p:spPr>
          <a:xfrm>
            <a:off x="9372600" y="8601075"/>
            <a:ext cx="7629525" cy="704850"/>
          </a:xfrm>
          <a:prstGeom prst="roundRect">
            <a:avLst>
              <a:gd name="adj" fmla="val 18919"/>
            </a:avLst>
          </a:prstGeom>
          <a:solidFill>
            <a:srgbClr val="FCE9E2"/>
          </a:solidFill>
          <a:ln w="9525">
            <a:solidFill>
              <a:srgbClr val="E9BD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91675" y="8763000"/>
            <a:ext cx="381000" cy="381000"/>
          </a:xfrm>
          <a:prstGeom prst="ellipse">
            <a:avLst/>
          </a:prstGeom>
          <a:solidFill>
            <a:srgbClr val="D8957F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400" y="8848725"/>
            <a:ext cx="209550" cy="20955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106025" y="8792468"/>
            <a:ext cx="302914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B25A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建議加強：母音 /æ/ 發音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6830229" y="9725025"/>
            <a:ext cx="96247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323850" cy="19050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" name="Text 1"/>
          <p:cNvSpPr/>
          <p:nvPr/>
        </p:nvSpPr>
        <p:spPr>
          <a:xfrm>
            <a:off x="1409699" y="704329"/>
            <a:ext cx="2763055" cy="601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225" dirty="0">
                <a:solidFill>
                  <a:srgbClr val="C074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IMPACT ｜ 未來藍圖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2500" y="1123950"/>
            <a:ext cx="18021300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未來擴展藍圖：邊緣 AI 平台的無限場景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200150" y="4786015"/>
            <a:ext cx="2057400" cy="2057400"/>
          </a:xfrm>
          <a:prstGeom prst="ellipse">
            <a:avLst/>
          </a:prstGeom>
          <a:gradFill rotWithShape="1">
            <a:gsLst>
              <a:gs pos="0">
                <a:srgbClr val="FBEFD9">
                  <a:alpha val="100000"/>
                </a:srgbClr>
              </a:gs>
              <a:gs pos="100000">
                <a:srgbClr val="EFE0C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 w="28575">
            <a:solidFill>
              <a:srgbClr val="E2A35A"/>
            </a:solidFill>
            <a:prstDash val="solid"/>
          </a:ln>
          <a:effectLst>
            <a:outerShdw blurRad="342900" dist="171450" dir="5400000" algn="bl" rotWithShape="0">
              <a:srgbClr val="C0743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4950" y="5472708"/>
            <a:ext cx="1592580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說說學伴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57486" y="5927973"/>
            <a:ext cx="1477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666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5671840"/>
            <a:ext cx="64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C2B5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▶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533900" y="4347865"/>
            <a:ext cx="3486150" cy="2933700"/>
          </a:xfrm>
          <a:prstGeom prst="roundRect">
            <a:avLst>
              <a:gd name="adj" fmla="val 7143"/>
            </a:avLst>
          </a:prstGeom>
          <a:solidFill>
            <a:srgbClr val="FCF8EF"/>
          </a:solidFill>
          <a:ln w="9525">
            <a:solidFill>
              <a:srgbClr val="E6DBC2"/>
            </a:solidFill>
            <a:prstDash val="solid"/>
          </a:ln>
          <a:effectLst>
            <a:outerShdw blurRad="247650" dist="114300" dir="5400000" algn="bl" rotWithShape="0">
              <a:srgbClr val="48371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8225" y="4643140"/>
            <a:ext cx="2494508" cy="419100"/>
          </a:xfrm>
          <a:prstGeom prst="roundRect">
            <a:avLst>
              <a:gd name="adj" fmla="val 50000"/>
            </a:avLst>
          </a:prstGeom>
          <a:solidFill>
            <a:srgbClr val="27374D"/>
          </a:solidFill>
          <a:ln/>
        </p:spPr>
      </p:sp>
      <p:sp>
        <p:nvSpPr>
          <p:cNvPr id="11" name="Text 9"/>
          <p:cNvSpPr/>
          <p:nvPr/>
        </p:nvSpPr>
        <p:spPr>
          <a:xfrm>
            <a:off x="5038725" y="4738390"/>
            <a:ext cx="2189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4EC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 1 · 基礎教育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8225" y="5214640"/>
            <a:ext cx="2943225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5A504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結合「中小學數位學習精進方案」，於 5–10 所偏鄉小學試辦導入。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210550" y="5671840"/>
            <a:ext cx="647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C2B59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▶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048750" y="4042023"/>
            <a:ext cx="8286750" cy="1067544"/>
          </a:xfrm>
          <a:prstGeom prst="roundRect">
            <a:avLst>
              <a:gd name="adj" fmla="val 14276"/>
            </a:avLst>
          </a:prstGeom>
          <a:solidFill>
            <a:srgbClr val="FBF6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48750" y="5100042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16" name="Shape 14"/>
          <p:cNvSpPr/>
          <p:nvPr/>
        </p:nvSpPr>
        <p:spPr>
          <a:xfrm>
            <a:off x="9048750" y="4042023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8750" y="4042023"/>
            <a:ext cx="47625" cy="1067544"/>
          </a:xfrm>
          <a:prstGeom prst="rect">
            <a:avLst/>
          </a:prstGeom>
          <a:solidFill>
            <a:srgbClr val="3A6C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25975" y="4042023"/>
            <a:ext cx="9525" cy="1067544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19" name="Shape 17"/>
          <p:cNvSpPr/>
          <p:nvPr/>
        </p:nvSpPr>
        <p:spPr>
          <a:xfrm>
            <a:off x="9344025" y="4328071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3ECF5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8325" y="4442371"/>
            <a:ext cx="26670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10775" y="4242048"/>
            <a:ext cx="435864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高齡認知訓練</a:t>
            </a:r>
            <a:endParaRPr lang="en-US" sz="2025" dirty="0"/>
          </a:p>
        </p:txBody>
      </p:sp>
      <p:sp>
        <p:nvSpPr>
          <p:cNvPr id="22" name="Text 19"/>
          <p:cNvSpPr/>
          <p:nvPr/>
        </p:nvSpPr>
        <p:spPr>
          <a:xfrm>
            <a:off x="10010775" y="4562921"/>
            <a:ext cx="435864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為獨居長者提供免聯網的聲控陪伴。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9048750" y="5281017"/>
            <a:ext cx="8286750" cy="1067544"/>
          </a:xfrm>
          <a:prstGeom prst="roundRect">
            <a:avLst>
              <a:gd name="adj" fmla="val 14276"/>
            </a:avLst>
          </a:prstGeom>
          <a:solidFill>
            <a:srgbClr val="FBF6EB"/>
          </a:solidFill>
          <a:ln/>
        </p:spPr>
      </p:sp>
      <p:sp>
        <p:nvSpPr>
          <p:cNvPr id="24" name="Shape 21"/>
          <p:cNvSpPr/>
          <p:nvPr/>
        </p:nvSpPr>
        <p:spPr>
          <a:xfrm>
            <a:off x="9048750" y="6339036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5" name="Shape 22"/>
          <p:cNvSpPr/>
          <p:nvPr/>
        </p:nvSpPr>
        <p:spPr>
          <a:xfrm>
            <a:off x="9048750" y="5281017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6" name="Shape 23"/>
          <p:cNvSpPr/>
          <p:nvPr/>
        </p:nvSpPr>
        <p:spPr>
          <a:xfrm>
            <a:off x="9048750" y="5281017"/>
            <a:ext cx="47625" cy="1067544"/>
          </a:xfrm>
          <a:prstGeom prst="rect">
            <a:avLst/>
          </a:prstGeom>
          <a:solidFill>
            <a:srgbClr val="6E7F5E"/>
          </a:solidFill>
          <a:ln/>
        </p:spPr>
      </p:sp>
      <p:sp>
        <p:nvSpPr>
          <p:cNvPr id="27" name="Shape 24"/>
          <p:cNvSpPr/>
          <p:nvPr/>
        </p:nvSpPr>
        <p:spPr>
          <a:xfrm>
            <a:off x="17325975" y="5281017"/>
            <a:ext cx="9525" cy="1067544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28" name="Shape 25"/>
          <p:cNvSpPr/>
          <p:nvPr/>
        </p:nvSpPr>
        <p:spPr>
          <a:xfrm>
            <a:off x="9344025" y="556706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AF0E2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58325" y="5681365"/>
            <a:ext cx="266700" cy="2667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010775" y="5481042"/>
            <a:ext cx="408622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技職人才發展</a:t>
            </a:r>
            <a:endParaRPr lang="en-US" sz="2025" dirty="0"/>
          </a:p>
        </p:txBody>
      </p:sp>
      <p:sp>
        <p:nvSpPr>
          <p:cNvPr id="31" name="Text 27"/>
          <p:cNvSpPr/>
          <p:nvPr/>
        </p:nvSpPr>
        <p:spPr>
          <a:xfrm>
            <a:off x="10010775" y="5801916"/>
            <a:ext cx="408622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提供技職學生英語口說模擬面試。</a:t>
            </a:r>
            <a:endParaRPr lang="en-US" sz="1950" dirty="0"/>
          </a:p>
        </p:txBody>
      </p:sp>
      <p:sp>
        <p:nvSpPr>
          <p:cNvPr id="32" name="Shape 28"/>
          <p:cNvSpPr/>
          <p:nvPr/>
        </p:nvSpPr>
        <p:spPr>
          <a:xfrm>
            <a:off x="9048750" y="6520011"/>
            <a:ext cx="8286750" cy="1067544"/>
          </a:xfrm>
          <a:prstGeom prst="roundRect">
            <a:avLst>
              <a:gd name="adj" fmla="val 14276"/>
            </a:avLst>
          </a:prstGeom>
          <a:solidFill>
            <a:srgbClr val="FBF6EB"/>
          </a:solidFill>
          <a:ln/>
        </p:spPr>
      </p:sp>
      <p:sp>
        <p:nvSpPr>
          <p:cNvPr id="33" name="Shape 29"/>
          <p:cNvSpPr/>
          <p:nvPr/>
        </p:nvSpPr>
        <p:spPr>
          <a:xfrm>
            <a:off x="9048750" y="7578030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4" name="Shape 30"/>
          <p:cNvSpPr/>
          <p:nvPr/>
        </p:nvSpPr>
        <p:spPr>
          <a:xfrm>
            <a:off x="9048750" y="6520011"/>
            <a:ext cx="8286750" cy="9525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5" name="Shape 31"/>
          <p:cNvSpPr/>
          <p:nvPr/>
        </p:nvSpPr>
        <p:spPr>
          <a:xfrm>
            <a:off x="9048750" y="6520011"/>
            <a:ext cx="47625" cy="1067544"/>
          </a:xfrm>
          <a:prstGeom prst="rect">
            <a:avLst/>
          </a:prstGeom>
          <a:solidFill>
            <a:srgbClr val="C0743A"/>
          </a:solidFill>
          <a:ln/>
        </p:spPr>
      </p:sp>
      <p:sp>
        <p:nvSpPr>
          <p:cNvPr id="36" name="Shape 32"/>
          <p:cNvSpPr/>
          <p:nvPr/>
        </p:nvSpPr>
        <p:spPr>
          <a:xfrm>
            <a:off x="17325975" y="6520011"/>
            <a:ext cx="9525" cy="1067544"/>
          </a:xfrm>
          <a:prstGeom prst="rect">
            <a:avLst/>
          </a:prstGeom>
          <a:solidFill>
            <a:srgbClr val="E6DBC2"/>
          </a:solidFill>
          <a:ln/>
        </p:spPr>
      </p:sp>
      <p:sp>
        <p:nvSpPr>
          <p:cNvPr id="37" name="Shape 33"/>
          <p:cNvSpPr/>
          <p:nvPr/>
        </p:nvSpPr>
        <p:spPr>
          <a:xfrm>
            <a:off x="9344025" y="6806059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FBEFD9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8325" y="6920359"/>
            <a:ext cx="266700" cy="2667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010775" y="6720036"/>
            <a:ext cx="54483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25" b="1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環境社會韌性</a:t>
            </a:r>
            <a:endParaRPr lang="en-US" sz="2025" dirty="0"/>
          </a:p>
        </p:txBody>
      </p:sp>
      <p:sp>
        <p:nvSpPr>
          <p:cNvPr id="40" name="Text 35"/>
          <p:cNvSpPr/>
          <p:nvPr/>
        </p:nvSpPr>
        <p:spPr>
          <a:xfrm>
            <a:off x="10010775" y="7040910"/>
            <a:ext cx="5448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0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災難斷網情境下的離線語音求救與安全指引。</a:t>
            </a:r>
            <a:endParaRPr lang="en-US" sz="1950" dirty="0"/>
          </a:p>
        </p:txBody>
      </p:sp>
      <p:sp>
        <p:nvSpPr>
          <p:cNvPr id="41" name="Text 36"/>
          <p:cNvSpPr/>
          <p:nvPr/>
        </p:nvSpPr>
        <p:spPr>
          <a:xfrm>
            <a:off x="16873984" y="9725025"/>
            <a:ext cx="9187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kern="0" spc="150" dirty="0">
                <a:solidFill>
                  <a:srgbClr val="B3A48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r>
              <a:rPr lang="en-US" sz="1875" b="1" kern="0" spc="150" dirty="0">
                <a:solidFill>
                  <a:srgbClr val="CFC1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10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7F0E0">
                  <a:alpha val="100000"/>
                </a:srgbClr>
              </a:gs>
              <a:gs pos="55000">
                <a:srgbClr val="EFE6D2">
                  <a:alpha val="100000"/>
                </a:srgbClr>
              </a:gs>
              <a:gs pos="100000">
                <a:srgbClr val="E8DCC3">
                  <a:alpha val="100000"/>
                </a:srgbClr>
              </a:gs>
            </a:gsLst>
            <a:path path="circle">
              <a:fillToRect l="50000" t="32000" r="50000" b="68000"/>
            </a:path>
          </a:gradFill>
          <a:ln/>
        </p:spPr>
      </p:sp>
      <p:sp>
        <p:nvSpPr>
          <p:cNvPr id="4" name="Text 1"/>
          <p:cNvSpPr/>
          <p:nvPr/>
        </p:nvSpPr>
        <p:spPr>
          <a:xfrm>
            <a:off x="7203534" y="4808041"/>
            <a:ext cx="38809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b="1" kern="0" spc="300" dirty="0">
                <a:solidFill>
                  <a:srgbClr val="6E7F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說說學伴 · SPEAKBUDDY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838950" y="5293816"/>
            <a:ext cx="46101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0" b="1" kern="0" spc="450" dirty="0">
                <a:solidFill>
                  <a:srgbClr val="27374D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謝謝聆聽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6000750" y="6532066"/>
            <a:ext cx="62865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A6663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每個孩子，都值得有人陪他開口。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0" y="7370266"/>
            <a:ext cx="4953000" cy="9525"/>
          </a:xfrm>
          <a:prstGeom prst="rect">
            <a:avLst/>
          </a:prstGeom>
          <a:solidFill>
            <a:srgbClr val="D8CBB0"/>
          </a:solidFill>
          <a:ln/>
        </p:spPr>
      </p:sp>
      <p:sp>
        <p:nvSpPr>
          <p:cNvPr id="8" name="Text 5"/>
          <p:cNvSpPr/>
          <p:nvPr/>
        </p:nvSpPr>
        <p:spPr>
          <a:xfrm>
            <a:off x="6086475" y="7627441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7374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師大酷英團隊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915275" y="7656016"/>
            <a:ext cx="44005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25" kern="0" spc="75" dirty="0">
                <a:solidFill>
                  <a:srgbClr val="8A7F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郭泰源 王智城 李宗哲 范鈞淯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6607790" y="8179891"/>
            <a:ext cx="50724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kern="0" spc="75" dirty="0">
                <a:solidFill>
                  <a:srgbClr val="A99B8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雲湧智生 ｜ 創意交流組 · 晶創未來</a:t>
            </a:r>
            <a:endParaRPr lang="en-US" sz="1875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6B78808-D19F-120D-3B32-E710AAC2A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040461"/>
            <a:ext cx="4573421" cy="3660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749</Words>
  <Application>Microsoft Office PowerPoint</Application>
  <PresentationFormat>自訂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Manrope</vt:lpstr>
      <vt:lpstr>Noto Sans TC</vt:lpstr>
      <vt:lpstr>Noto Serif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coolexam</cp:lastModifiedBy>
  <cp:revision>7</cp:revision>
  <dcterms:created xsi:type="dcterms:W3CDTF">2026-06-24T12:57:50Z</dcterms:created>
  <dcterms:modified xsi:type="dcterms:W3CDTF">2026-06-24T13:48:51Z</dcterms:modified>
</cp:coreProperties>
</file>